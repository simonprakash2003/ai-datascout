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731520"/>
            <a:ext cx="2377440" cy="2377440"/>
          </a:xfrm>
          <a:prstGeom prst="ellipse">
            <a:avLst/>
          </a:prstGeom>
          <a:solidFill>
            <a:srgbClr val="28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2743200"/>
            <a:ext cx="1645920" cy="1645920"/>
          </a:xfrm>
          <a:prstGeom prst="ellipse">
            <a:avLst/>
          </a:prstGeom>
          <a:solidFill>
            <a:srgbClr val="19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01000" y="4069080"/>
            <a:ext cx="1005840" cy="1005840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5303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1">
                <a:solidFill>
                  <a:srgbClr val="74D3DC"/>
                </a:solidFill>
                <a:latin typeface="Aptos"/>
              </a:defRPr>
            </a:pPr>
            <a:r>
              <a:t>PROJECT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6583680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"/>
              </a:defRPr>
            </a:pPr>
            <a:r>
              <a:t>AI DataScout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594360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300" b="0">
                <a:solidFill>
                  <a:srgbClr val="DDE7F4"/>
                </a:solidFill>
                <a:latin typeface="Aptos"/>
              </a:defRPr>
            </a:pPr>
            <a:r>
              <a:t>From structured data collection</a:t>
            </a:r>
            <a:br/>
            <a:r>
              <a:t>to searchable intelligence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160520"/>
            <a:ext cx="4023360" cy="502920"/>
          </a:xfrm>
          <a:prstGeom prst="roundRect">
            <a:avLst/>
          </a:prstGeom>
          <a:solidFill>
            <a:srgbClr val="223756"/>
          </a:solidFill>
          <a:ln>
            <a:solidFill>
              <a:srgbClr val="3E5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4288536"/>
            <a:ext cx="3657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AUSTRALIAN GP CLINIC DIRECTORY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0">
                <a:solidFill>
                  <a:srgbClr val="BFCDE1"/>
                </a:solidFill>
                <a:latin typeface="Aptos"/>
              </a:defRPr>
            </a:pPr>
            <a:r>
              <a:t>Python  •  Pandas  •  Streamlit  •  Plotly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80" y="6263640"/>
            <a:ext cx="10058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BFCDE1"/>
                </a:solidFill>
                <a:latin typeface="Aptos"/>
              </a:defRPr>
            </a:pPr>
            <a:r>
              <a:t>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2869D2"/>
                </a:solidFill>
                <a:latin typeface="Aptos"/>
              </a:defRPr>
            </a:pPr>
            <a:r>
              <a:t>01 /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3200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13232"/>
            <a:ext cx="10972800" cy="22860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900" b="1">
                <a:solidFill>
                  <a:srgbClr val="14233C"/>
                </a:solidFill>
                <a:latin typeface="Aptos"/>
              </a:defRPr>
            </a:pPr>
            <a:r>
              <a:t>Turn directory data into useful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581912"/>
            <a:ext cx="106070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0">
                <a:solidFill>
                  <a:srgbClr val="64748B"/>
                </a:solidFill>
                <a:latin typeface="Aptos"/>
              </a:defRPr>
            </a:pPr>
            <a:r>
              <a:t>A lightweight prototype for organizing, exploring, and evaluating clinic directory information.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3429000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E1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313432"/>
            <a:ext cx="64008" cy="1911096"/>
          </a:xfrm>
          <a:prstGeom prst="rect">
            <a:avLst/>
          </a:prstGeom>
          <a:solidFill>
            <a:srgbClr val="28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0008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07208"/>
            <a:ext cx="3017520" cy="1435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2D3948"/>
                </a:solidFill>
                <a:latin typeface="Aptos"/>
              </a:defRPr>
            </a:pPr>
            <a:r>
              <a:t>Directory records can be inconsistent, duplicated, incomplete, or difficult to search.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48840"/>
            <a:ext cx="3429000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E1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313432"/>
            <a:ext cx="64008" cy="1911096"/>
          </a:xfrm>
          <a:prstGeom prst="rect">
            <a:avLst/>
          </a:prstGeom>
          <a:solidFill>
            <a:srgbClr val="19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350008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t>The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07208"/>
            <a:ext cx="3017520" cy="1435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2D3948"/>
                </a:solidFill>
                <a:latin typeface="Aptos"/>
              </a:defRPr>
            </a:pPr>
            <a:r>
              <a:t>Clean and structure records, then expose them through an interactive dashboard.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148840"/>
            <a:ext cx="3429000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E1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313432"/>
            <a:ext cx="64008" cy="1911096"/>
          </a:xfrm>
          <a:prstGeom prst="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350008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t>The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807208"/>
            <a:ext cx="3017520" cy="1435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2D3948"/>
                </a:solidFill>
                <a:latin typeface="Aptos"/>
              </a:defRPr>
            </a:pPr>
            <a:r>
              <a:t>Searchable data, transparent quality checks, simple visual summaries, and CSV export.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83480"/>
            <a:ext cx="106984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900" b="1">
                <a:solidFill>
                  <a:srgbClr val="14233C"/>
                </a:solidFill>
                <a:latin typeface="Aptos"/>
              </a:defRPr>
            </a:pPr>
            <a:r>
              <a:t>Design principle: make the data useful without overstating what the data can prove.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2869D2"/>
                </a:solidFill>
                <a:latin typeface="Aptos"/>
              </a:defRPr>
            </a:pPr>
            <a:r>
              <a:t>02 / WORKFLOW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3200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13232"/>
            <a:ext cx="10972800" cy="22860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900" b="1">
                <a:solidFill>
                  <a:srgbClr val="14233C"/>
                </a:solidFill>
                <a:latin typeface="Aptos"/>
              </a:defRPr>
            </a:pPr>
            <a:r>
              <a:t>A simple, testable data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581912"/>
            <a:ext cx="106070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0">
                <a:solidFill>
                  <a:srgbClr val="64748B"/>
                </a:solidFill>
                <a:latin typeface="Aptos"/>
              </a:defRPr>
            </a:pPr>
            <a:r>
              <a:t>Each stage has a clear responsibility and can be validated independently.</a:t>
            </a:r>
          </a:p>
        </p:txBody>
      </p:sp>
      <p:sp>
        <p:nvSpPr>
          <p:cNvPr id="7" name="Oval 6"/>
          <p:cNvSpPr/>
          <p:nvPr/>
        </p:nvSpPr>
        <p:spPr>
          <a:xfrm>
            <a:off x="1124712" y="2011680"/>
            <a:ext cx="640080" cy="640080"/>
          </a:xfrm>
          <a:prstGeom prst="ellipse">
            <a:avLst/>
          </a:prstGeom>
          <a:solidFill>
            <a:srgbClr val="28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18541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52928"/>
            <a:ext cx="1737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800" b="1">
                <a:solidFill>
                  <a:srgbClr val="14233C"/>
                </a:solidFill>
                <a:latin typeface="Aptos"/>
              </a:defRPr>
            </a:pPr>
            <a:r>
              <a:t>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10128"/>
            <a:ext cx="1874519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Aptos"/>
              </a:defRPr>
            </a:pPr>
            <a:r>
              <a:t>Authorized source or</a:t>
            </a:r>
            <a:br/>
            <a:r>
              <a:t>fictional sample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2304288"/>
            <a:ext cx="1005840" cy="32004"/>
          </a:xfrm>
          <a:prstGeom prst="rect">
            <a:avLst/>
          </a:prstGeom>
          <a:solidFill>
            <a:srgbClr val="CDD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6432" y="2011680"/>
            <a:ext cx="640080" cy="640080"/>
          </a:xfrm>
          <a:prstGeom prst="ellipse">
            <a:avLst/>
          </a:prstGeom>
          <a:solidFill>
            <a:srgbClr val="19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218541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79" y="2852928"/>
            <a:ext cx="1737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800" b="1">
                <a:solidFill>
                  <a:srgbClr val="14233C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310128"/>
            <a:ext cx="1874519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Aptos"/>
              </a:defRPr>
            </a:pPr>
            <a:r>
              <a:t>Normalize fields,</a:t>
            </a:r>
            <a:br/>
            <a:r>
              <a:t>handle missing values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2304288"/>
            <a:ext cx="1005840" cy="32004"/>
          </a:xfrm>
          <a:prstGeom prst="rect">
            <a:avLst/>
          </a:prstGeom>
          <a:solidFill>
            <a:srgbClr val="CDD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88152" y="2011680"/>
            <a:ext cx="640080" cy="640080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88152" y="218541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852928"/>
            <a:ext cx="1737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800" b="1">
                <a:solidFill>
                  <a:srgbClr val="14233C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310128"/>
            <a:ext cx="1874519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Aptos"/>
              </a:defRPr>
            </a:pPr>
            <a:r>
              <a:t>Detect duplicates,</a:t>
            </a:r>
            <a:br/>
            <a:r>
              <a:t>check completeness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304288"/>
            <a:ext cx="1005840" cy="32004"/>
          </a:xfrm>
          <a:prstGeom prst="rect">
            <a:avLst/>
          </a:prstGeom>
          <a:solidFill>
            <a:srgbClr val="CDD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19871" y="2011680"/>
            <a:ext cx="640080" cy="640080"/>
          </a:xfrm>
          <a:prstGeom prst="ellipse">
            <a:avLst/>
          </a:prstGeom>
          <a:solidFill>
            <a:srgbClr val="28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9871" y="218541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19" y="2852928"/>
            <a:ext cx="1737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800" b="1">
                <a:solidFill>
                  <a:srgbClr val="14233C"/>
                </a:solidFill>
                <a:latin typeface="Aptos"/>
              </a:defRPr>
            </a:pPr>
            <a:r>
              <a:t>Explore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799" y="3310128"/>
            <a:ext cx="1874519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Aptos"/>
              </a:defRPr>
            </a:pPr>
            <a:r>
              <a:t>Filter, search,</a:t>
            </a:r>
            <a:br/>
            <a:r>
              <a:t>visualize in Streamlit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23959" y="2304288"/>
            <a:ext cx="1005840" cy="32004"/>
          </a:xfrm>
          <a:prstGeom prst="rect">
            <a:avLst/>
          </a:prstGeom>
          <a:solidFill>
            <a:srgbClr val="CDD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451592" y="2011680"/>
            <a:ext cx="640080" cy="640080"/>
          </a:xfrm>
          <a:prstGeom prst="ellipse">
            <a:avLst/>
          </a:prstGeom>
          <a:solidFill>
            <a:srgbClr val="279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51592" y="218541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852928"/>
            <a:ext cx="1737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800" b="1">
                <a:solidFill>
                  <a:srgbClr val="14233C"/>
                </a:solidFill>
                <a:latin typeface="Aptos"/>
              </a:defRPr>
            </a:pPr>
            <a:r>
              <a:t>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19" y="3310128"/>
            <a:ext cx="1874519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Aptos"/>
              </a:defRPr>
            </a:pPr>
            <a:r>
              <a:t>Download cleaned</a:t>
            </a:r>
            <a:br/>
            <a:r>
              <a:t>records as CSV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709160"/>
            <a:ext cx="3063240" cy="1051560"/>
          </a:xfrm>
          <a:prstGeom prst="roundRect">
            <a:avLst/>
          </a:prstGeom>
          <a:solidFill>
            <a:srgbClr val="F1F6FC"/>
          </a:solidFill>
          <a:ln>
            <a:solidFill>
              <a:srgbClr val="E1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" y="4873752"/>
            <a:ext cx="64008" cy="722375"/>
          </a:xfrm>
          <a:prstGeom prst="rect">
            <a:avLst/>
          </a:prstGeom>
          <a:solidFill>
            <a:srgbClr val="28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4910328"/>
            <a:ext cx="26517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1">
                <a:solidFill>
                  <a:srgbClr val="14233C"/>
                </a:solidFill>
                <a:latin typeface="Aptos"/>
              </a:defRPr>
            </a:pPr>
            <a:r>
              <a:t>Python + Pandas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367528"/>
            <a:ext cx="2651760" cy="2468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0">
                <a:solidFill>
                  <a:srgbClr val="2D3948"/>
                </a:solidFill>
                <a:latin typeface="Aptos"/>
              </a:defRPr>
            </a:pPr>
            <a:r>
              <a:t>Processing and data quality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4709160"/>
            <a:ext cx="3063240" cy="1051560"/>
          </a:xfrm>
          <a:prstGeom prst="roundRect">
            <a:avLst/>
          </a:prstGeom>
          <a:solidFill>
            <a:srgbClr val="F1F6FC"/>
          </a:solidFill>
          <a:ln>
            <a:solidFill>
              <a:srgbClr val="E1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0" y="4873752"/>
            <a:ext cx="64008" cy="722375"/>
          </a:xfrm>
          <a:prstGeom prst="rect">
            <a:avLst/>
          </a:prstGeom>
          <a:solidFill>
            <a:srgbClr val="19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0600" y="4910328"/>
            <a:ext cx="26517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1">
                <a:solidFill>
                  <a:srgbClr val="14233C"/>
                </a:solidFill>
                <a:latin typeface="Aptos"/>
              </a:defRPr>
            </a:pPr>
            <a:r>
              <a:t>Streamlit + Plotly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5367528"/>
            <a:ext cx="2651760" cy="2468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0">
                <a:solidFill>
                  <a:srgbClr val="2D3948"/>
                </a:solidFill>
                <a:latin typeface="Aptos"/>
              </a:defRPr>
            </a:pPr>
            <a:r>
              <a:t>Interface and visualization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4709160"/>
            <a:ext cx="3063240" cy="1051560"/>
          </a:xfrm>
          <a:prstGeom prst="roundRect">
            <a:avLst/>
          </a:prstGeom>
          <a:solidFill>
            <a:srgbClr val="F1F6FC"/>
          </a:solidFill>
          <a:ln>
            <a:solidFill>
              <a:srgbClr val="E1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9600" y="4873752"/>
            <a:ext cx="64008" cy="722375"/>
          </a:xfrm>
          <a:prstGeom prst="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8200" y="4910328"/>
            <a:ext cx="26517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1">
                <a:solidFill>
                  <a:srgbClr val="14233C"/>
                </a:solidFill>
                <a:latin typeface="Aptos"/>
              </a:defRPr>
            </a:pPr>
            <a:r>
              <a:t>Optional AI layer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5367528"/>
            <a:ext cx="2651760" cy="2468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0">
                <a:solidFill>
                  <a:srgbClr val="2D3948"/>
                </a:solidFill>
                <a:latin typeface="Aptos"/>
              </a:defRPr>
            </a:pPr>
            <a:r>
              <a:t>Natural-language summaries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2869D2"/>
                </a:solidFill>
                <a:latin typeface="Aptos"/>
              </a:defRPr>
            </a:pPr>
            <a:r>
              <a:t>03 / 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3200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13232"/>
            <a:ext cx="10972800" cy="22860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900" b="1">
                <a:solidFill>
                  <a:srgbClr val="14233C"/>
                </a:solidFill>
                <a:latin typeface="Aptos"/>
              </a:defRPr>
            </a:pPr>
            <a:r>
              <a:t>Explore the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581912"/>
            <a:ext cx="106070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0">
                <a:solidFill>
                  <a:srgbClr val="64748B"/>
                </a:solidFill>
                <a:latin typeface="Aptos"/>
              </a:defRPr>
            </a:pPr>
            <a:r>
              <a:t>The demo uses a clearly labeled fictional sample dataset—not unverified clinic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429000" cy="960120"/>
          </a:xfrm>
          <a:prstGeom prst="roundRect">
            <a:avLst/>
          </a:prstGeom>
          <a:solidFill>
            <a:srgbClr val="F1F6FC"/>
          </a:solidFill>
          <a:ln>
            <a:solidFill>
              <a:srgbClr val="E1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3017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800" b="1">
                <a:solidFill>
                  <a:srgbClr val="14233C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3017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Aptos"/>
              </a:defRPr>
            </a:pPr>
            <a:r>
              <a:t>Sample 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28800"/>
            <a:ext cx="3429000" cy="960120"/>
          </a:xfrm>
          <a:prstGeom prst="roundRect">
            <a:avLst/>
          </a:prstGeom>
          <a:solidFill>
            <a:srgbClr val="F1F6FC"/>
          </a:solidFill>
          <a:ln>
            <a:solidFill>
              <a:srgbClr val="E1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993392"/>
            <a:ext cx="3017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800" b="1">
                <a:solidFill>
                  <a:srgbClr val="14233C"/>
                </a:solidFill>
                <a:latin typeface="Aptos"/>
              </a:defRPr>
            </a:pPr>
            <a:r>
              <a:t>State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359152"/>
            <a:ext cx="3017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Aptos"/>
              </a:defRPr>
            </a:pPr>
            <a:r>
              <a:t>States / territories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828800"/>
            <a:ext cx="3429000" cy="960120"/>
          </a:xfrm>
          <a:prstGeom prst="roundRect">
            <a:avLst/>
          </a:prstGeom>
          <a:solidFill>
            <a:srgbClr val="F1F6FC"/>
          </a:solidFill>
          <a:ln>
            <a:solidFill>
              <a:srgbClr val="E1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993392"/>
            <a:ext cx="3017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800" b="1">
                <a:solidFill>
                  <a:srgbClr val="14233C"/>
                </a:solidFill>
                <a:latin typeface="Aptos"/>
              </a:defRPr>
            </a:pPr>
            <a:r>
              <a:t>Contact fields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359152"/>
            <a:ext cx="3017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Aptos"/>
              </a:defRPr>
            </a:pPr>
            <a:r>
              <a:t>Published-field availability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46120"/>
            <a:ext cx="3429000" cy="1965960"/>
          </a:xfrm>
          <a:prstGeom prst="roundRect">
            <a:avLst/>
          </a:prstGeom>
          <a:solidFill>
            <a:srgbClr val="F1F6FC"/>
          </a:solidFill>
          <a:ln>
            <a:solidFill>
              <a:srgbClr val="E1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410712"/>
            <a:ext cx="64008" cy="1636776"/>
          </a:xfrm>
          <a:prstGeom prst="rect">
            <a:avLst/>
          </a:prstGeom>
          <a:solidFill>
            <a:srgbClr val="28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47288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4233C"/>
                </a:solidFill>
                <a:latin typeface="Aptos"/>
              </a:defRPr>
            </a:pPr>
            <a:r>
              <a:t>Filter &amp;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904487"/>
            <a:ext cx="3017520" cy="11612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2D3948"/>
                </a:solidFill>
                <a:latin typeface="Aptos"/>
              </a:defRPr>
            </a:pPr>
            <a:r>
              <a:t>• Select a state or territory</a:t>
            </a:r>
            <a:br/>
            <a:r>
              <a:t>• Search clinic name, suburb, or service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246120"/>
            <a:ext cx="3429000" cy="1965960"/>
          </a:xfrm>
          <a:prstGeom prst="roundRect">
            <a:avLst/>
          </a:prstGeom>
          <a:solidFill>
            <a:srgbClr val="F1F6FC"/>
          </a:solidFill>
          <a:ln>
            <a:solidFill>
              <a:srgbClr val="E1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3410712"/>
            <a:ext cx="64008" cy="1636776"/>
          </a:xfrm>
          <a:prstGeom prst="rect">
            <a:avLst/>
          </a:prstGeom>
          <a:solidFill>
            <a:srgbClr val="19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447288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4233C"/>
                </a:solidFill>
                <a:latin typeface="Aptos"/>
              </a:defRPr>
            </a:pPr>
            <a:r>
              <a:t>Inspect &amp; 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904487"/>
            <a:ext cx="3017520" cy="11612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2D3948"/>
                </a:solidFill>
                <a:latin typeface="Aptos"/>
              </a:defRPr>
            </a:pPr>
            <a:r>
              <a:t>• Review cleaned records</a:t>
            </a:r>
            <a:br/>
            <a:r>
              <a:t>• Check missing values and completeness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246120"/>
            <a:ext cx="3429000" cy="1965960"/>
          </a:xfrm>
          <a:prstGeom prst="roundRect">
            <a:avLst/>
          </a:prstGeom>
          <a:solidFill>
            <a:srgbClr val="F1F6FC"/>
          </a:solidFill>
          <a:ln>
            <a:solidFill>
              <a:srgbClr val="E1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3410712"/>
            <a:ext cx="64008" cy="1636776"/>
          </a:xfrm>
          <a:prstGeom prst="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447288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4233C"/>
                </a:solidFill>
                <a:latin typeface="Aptos"/>
              </a:defRPr>
            </a:pPr>
            <a:r>
              <a:t>Export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904487"/>
            <a:ext cx="3017520" cy="11612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2D3948"/>
                </a:solidFill>
                <a:latin typeface="Aptos"/>
              </a:defRPr>
            </a:pPr>
            <a:r>
              <a:t>• Download filtered results</a:t>
            </a:r>
            <a:br/>
            <a:r>
              <a:t>• Use CSV for downstream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Aptos"/>
              </a:defRPr>
            </a:pPr>
            <a:r>
              <a:t>Suggested demo flow: overview → apply a filter → search → inspect quality → download 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2869D2"/>
                </a:solidFill>
                <a:latin typeface="Aptos"/>
              </a:defRPr>
            </a:pPr>
            <a:r>
              <a:t>04 / AI &amp; PROMPT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3200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13232"/>
            <a:ext cx="10972800" cy="22860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900" b="1">
                <a:solidFill>
                  <a:srgbClr val="14233C"/>
                </a:solidFill>
                <a:latin typeface="Aptos"/>
              </a:defRPr>
            </a:pPr>
            <a:r>
              <a:t>AI-assisted summaries—with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581912"/>
            <a:ext cx="106070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0">
                <a:solidFill>
                  <a:srgbClr val="64748B"/>
                </a:solidFill>
                <a:latin typeface="Aptos"/>
              </a:defRPr>
            </a:pPr>
            <a:r>
              <a:t>The application can fall back to transparent local analytics when an external AI API is unavailable.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5120640" cy="2423160"/>
          </a:xfrm>
          <a:prstGeom prst="roundRect">
            <a:avLst/>
          </a:prstGeom>
          <a:solidFill>
            <a:srgbClr val="F1F6FC"/>
          </a:solidFill>
          <a:ln>
            <a:solidFill>
              <a:srgbClr val="E1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30552"/>
            <a:ext cx="64008" cy="2093976"/>
          </a:xfrm>
          <a:prstGeom prst="rect">
            <a:avLst/>
          </a:prstGeom>
          <a:solidFill>
            <a:srgbClr val="28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67128"/>
            <a:ext cx="4709159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t>Summary prompt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24328"/>
            <a:ext cx="4709159" cy="1618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0">
                <a:solidFill>
                  <a:srgbClr val="2D3948"/>
                </a:solidFill>
                <a:latin typeface="Aptos"/>
              </a:defRPr>
            </a:pPr>
            <a:r>
              <a:t>• Use only facts supported by supplied data</a:t>
            </a:r>
            <a:br/>
            <a:r>
              <a:t>• Do not invent clinic details or fill gaps with guesses</a:t>
            </a:r>
            <a:br/>
            <a:r>
              <a:t>• State limitations and missing information</a:t>
            </a:r>
            <a:br/>
            <a:r>
              <a:t>• Keep outputs concise and traceable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65960"/>
            <a:ext cx="5120640" cy="2423160"/>
          </a:xfrm>
          <a:prstGeom prst="roundRect">
            <a:avLst/>
          </a:prstGeom>
          <a:solidFill>
            <a:srgbClr val="F1F6FC"/>
          </a:solidFill>
          <a:ln>
            <a:solidFill>
              <a:srgbClr val="E1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130552"/>
            <a:ext cx="64008" cy="2093976"/>
          </a:xfrm>
          <a:prstGeom prst="rect">
            <a:avLst/>
          </a:prstGeom>
          <a:solidFill>
            <a:srgbClr val="19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167128"/>
            <a:ext cx="4709159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t>Development prompt 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24328"/>
            <a:ext cx="4709159" cy="1618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0">
                <a:solidFill>
                  <a:srgbClr val="2D3948"/>
                </a:solidFill>
                <a:latin typeface="Aptos"/>
              </a:defRPr>
            </a:pPr>
            <a:r>
              <a:t>• Plan architecture and reusable functions</a:t>
            </a:r>
            <a:br/>
            <a:r>
              <a:t>• Improve missing-value and duplicate handling</a:t>
            </a:r>
            <a:br/>
            <a:r>
              <a:t>• Add error handling and testable behavior</a:t>
            </a:r>
            <a:br/>
            <a:r>
              <a:t>• Record prompts and intended improvements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4983480"/>
            <a:ext cx="2743200" cy="594360"/>
          </a:xfrm>
          <a:prstGeom prst="roundRect">
            <a:avLst/>
          </a:prstGeom>
          <a:solidFill>
            <a:srgbClr val="28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5157216"/>
            <a:ext cx="252374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5257800"/>
            <a:ext cx="868680" cy="32004"/>
          </a:xfrm>
          <a:prstGeom prst="rect">
            <a:avLst/>
          </a:prstGeom>
          <a:solidFill>
            <a:srgbClr val="CDD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37760" y="4983480"/>
            <a:ext cx="2743200" cy="594360"/>
          </a:xfrm>
          <a:prstGeom prst="roundRect">
            <a:avLst/>
          </a:prstGeom>
          <a:solidFill>
            <a:srgbClr val="19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7488" y="5157216"/>
            <a:ext cx="252374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Local analytics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79" y="5257800"/>
            <a:ext cx="868680" cy="32004"/>
          </a:xfrm>
          <a:prstGeom prst="rect">
            <a:avLst/>
          </a:prstGeom>
          <a:solidFill>
            <a:srgbClr val="CDD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32520" y="4983480"/>
            <a:ext cx="2743200" cy="594360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42248" y="5157216"/>
            <a:ext cx="252374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Optional AI summary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989320"/>
            <a:ext cx="10332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Aptos"/>
              </a:defRPr>
            </a:pPr>
            <a:r>
              <a:t>AI output is advisory; the underlying dataset remains the source of truth.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>
                <a:solidFill>
                  <a:srgbClr val="2869D2"/>
                </a:solidFill>
                <a:latin typeface="Aptos"/>
              </a:defRPr>
            </a:pPr>
            <a:r>
              <a:t>05 / RESPONSIBLE DATA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3200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13232"/>
            <a:ext cx="10972800" cy="22860"/>
          </a:xfrm>
          <a:prstGeom prst="rect">
            <a:avLst/>
          </a:prstGeom>
          <a:solidFill>
            <a:srgbClr val="F1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900" b="1">
                <a:solidFill>
                  <a:srgbClr val="14233C"/>
                </a:solidFill>
                <a:latin typeface="Aptos"/>
              </a:defRPr>
            </a:pPr>
            <a:r>
              <a:t>Responsible collection is part of the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581912"/>
            <a:ext cx="106070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0">
                <a:solidFill>
                  <a:srgbClr val="64748B"/>
                </a:solidFill>
                <a:latin typeface="Aptos"/>
              </a:defRPr>
            </a:pPr>
            <a:r>
              <a:t>Technical safeguards help—but do not replace authorization or legal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429000" cy="2057400"/>
          </a:xfrm>
          <a:prstGeom prst="roundRect">
            <a:avLst/>
          </a:prstGeom>
          <a:solidFill>
            <a:srgbClr val="F1F6FC"/>
          </a:solidFill>
          <a:ln>
            <a:solidFill>
              <a:srgbClr val="E1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039112"/>
            <a:ext cx="64008" cy="1728216"/>
          </a:xfrm>
          <a:prstGeom prst="rect">
            <a:avLst/>
          </a:prstGeom>
          <a:solidFill>
            <a:srgbClr val="28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75688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4233C"/>
                </a:solidFill>
                <a:latin typeface="Aptos"/>
              </a:defRPr>
            </a:pPr>
            <a:r>
              <a:t>Source attribution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32887"/>
            <a:ext cx="3017520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2D3948"/>
                </a:solidFill>
                <a:latin typeface="Aptos"/>
              </a:defRPr>
            </a:pPr>
            <a:r>
              <a:t>Keep source and collection metadata with each record where applicable.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74519"/>
            <a:ext cx="3429000" cy="2057400"/>
          </a:xfrm>
          <a:prstGeom prst="roundRect">
            <a:avLst/>
          </a:prstGeom>
          <a:solidFill>
            <a:srgbClr val="F1F6FC"/>
          </a:solidFill>
          <a:ln>
            <a:solidFill>
              <a:srgbClr val="E1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039112"/>
            <a:ext cx="64008" cy="1728216"/>
          </a:xfrm>
          <a:prstGeom prst="rect">
            <a:avLst/>
          </a:prstGeom>
          <a:solidFill>
            <a:srgbClr val="19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075688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4233C"/>
                </a:solidFill>
                <a:latin typeface="Aptos"/>
              </a:defRPr>
            </a:pPr>
            <a:r>
              <a:t>Guarded extractor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32887"/>
            <a:ext cx="3017520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2D3948"/>
                </a:solidFill>
                <a:latin typeface="Aptos"/>
              </a:defRPr>
            </a:pPr>
            <a:r>
              <a:t>Single-page structured-data extraction with robots.txt checks and permission confirmation.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74519"/>
            <a:ext cx="3429000" cy="2057400"/>
          </a:xfrm>
          <a:prstGeom prst="roundRect">
            <a:avLst/>
          </a:prstGeom>
          <a:solidFill>
            <a:srgbClr val="F1F6FC"/>
          </a:solidFill>
          <a:ln>
            <a:solidFill>
              <a:srgbClr val="E1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039112"/>
            <a:ext cx="64008" cy="1728216"/>
          </a:xfrm>
          <a:prstGeom prst="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075688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>
                <a:solidFill>
                  <a:srgbClr val="14233C"/>
                </a:solidFill>
                <a:latin typeface="Aptos"/>
              </a:defRPr>
            </a:pPr>
            <a:r>
              <a:t>Human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532887"/>
            <a:ext cx="3017520" cy="1252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0">
                <a:solidFill>
                  <a:srgbClr val="2D3948"/>
                </a:solidFill>
                <a:latin typeface="Aptos"/>
              </a:defRPr>
            </a:pPr>
            <a:r>
              <a:t>Review website terms, applicable law, and any required permission before collecting 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572000"/>
            <a:ext cx="10332720" cy="822960"/>
          </a:xfrm>
          <a:prstGeom prst="roundRect">
            <a:avLst/>
          </a:prstGeom>
          <a:solidFill>
            <a:srgbClr val="FFF7EB"/>
          </a:solidFill>
          <a:ln>
            <a:solidFill>
              <a:srgbClr val="F8D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800600"/>
            <a:ext cx="9784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854D0E"/>
                </a:solidFill>
                <a:latin typeface="Aptos"/>
              </a:defRPr>
            </a:pPr>
            <a:r>
              <a:t>Important: robots.txt checks and a confirmation prompt do not themselves grant permission.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806440"/>
            <a:ext cx="10058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Aptos"/>
              </a:defRPr>
            </a:pPr>
            <a:r>
              <a:t>Use public or otherwise authorized data, minimize collection, and avoid presenting fictional examples as real.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7315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1">
                <a:solidFill>
                  <a:srgbClr val="74D3DC"/>
                </a:solidFill>
                <a:latin typeface="Aptos"/>
              </a:defRPr>
            </a:pPr>
            <a:r>
              <a:t>06 / 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77724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A complete data intelligence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57400"/>
            <a:ext cx="694944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900" b="0">
                <a:solidFill>
                  <a:srgbClr val="DDE7F4"/>
                </a:solidFill>
                <a:latin typeface="Aptos"/>
              </a:defRPr>
            </a:pPr>
            <a:r>
              <a:t>Ingestion → cleaning → quality checks → interactive analytics → AI-assisted reporting → export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3456432"/>
            <a:ext cx="164592" cy="164592"/>
          </a:xfrm>
          <a:prstGeom prst="ellipse">
            <a:avLst/>
          </a:prstGeom>
          <a:solidFill>
            <a:srgbClr val="19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429000"/>
            <a:ext cx="51206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Structured &amp; searchable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03320"/>
            <a:ext cx="6217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0">
                <a:solidFill>
                  <a:srgbClr val="BFCDE1"/>
                </a:solidFill>
                <a:latin typeface="Aptos"/>
              </a:defRPr>
            </a:pPr>
            <a:r>
              <a:t>Filter records and inspect the cleaned data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4169664"/>
            <a:ext cx="164592" cy="164592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142232"/>
            <a:ext cx="51206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Transparent quality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16552"/>
            <a:ext cx="6217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0">
                <a:solidFill>
                  <a:srgbClr val="BFCDE1"/>
                </a:solidFill>
                <a:latin typeface="Aptos"/>
              </a:defRPr>
            </a:pPr>
            <a:r>
              <a:t>Surface gaps and assess completeness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882896"/>
            <a:ext cx="164592" cy="164592"/>
          </a:xfrm>
          <a:prstGeom prst="ellipse">
            <a:avLst/>
          </a:prstGeom>
          <a:solidFill>
            <a:srgbClr val="286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855464"/>
            <a:ext cx="51206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Reviewable 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129784"/>
            <a:ext cx="6217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0">
                <a:solidFill>
                  <a:srgbClr val="BFCDE1"/>
                </a:solidFill>
                <a:latin typeface="Aptos"/>
              </a:defRPr>
            </a:pPr>
            <a:r>
              <a:t>Source code, tests, setup, and prompt documentation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08760"/>
            <a:ext cx="3063240" cy="3474720"/>
          </a:xfrm>
          <a:prstGeom prst="roundRect">
            <a:avLst/>
          </a:prstGeom>
          <a:solidFill>
            <a:srgbClr val="1F3451"/>
          </a:solidFill>
          <a:ln>
            <a:solidFill>
              <a:srgbClr val="37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965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AI DataScout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697480"/>
            <a:ext cx="242316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0">
                <a:solidFill>
                  <a:srgbClr val="DDE7F4"/>
                </a:solidFill>
                <a:latin typeface="Aptos"/>
              </a:defRPr>
            </a:pPr>
            <a:r>
              <a:t>Thank you</a:t>
            </a:r>
            <a:br/>
            <a:r>
              <a:t>for reviewing my project.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17220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>
                <a:solidFill>
                  <a:srgbClr val="BFCDE1"/>
                </a:solidFill>
                <a:latin typeface="Aptos"/>
              </a:defRPr>
            </a:pPr>
            <a:r>
              <a:t>Python  •  Pandas  •  Streamlit  •  Plotly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621792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BFCDE1"/>
                </a:solidFill>
                <a:latin typeface="Aptos"/>
              </a:defRPr>
            </a:pPr>
            <a:r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DataScout — Project Demonstration</dc:title>
  <dc:subject>Web scraping and data intelligence prototype</dc:subject>
  <dc:creator>OpenAI</dc:creator>
  <cp:keywords>AI DataScout, data intelligence, Streamlit, Pandas, Plotly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